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114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153"/>
                </a:solidFill>
                <a:latin typeface="Microsoft YaHei"/>
              </a:defRPr>
            </a:pPr>
            <a:r>
              <a:t>基于 MLP-CNN 流热场重建代理模型的翼型柱阵列散热器优化研究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0000" y="6570000"/>
            <a:ext cx="144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800000"/>
            <a:ext cx="1044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Microsoft YaHei"/>
              </a:defRPr>
            </a:pPr>
            <a:r>
              <a:t>技术路线：七参数建模 -&gt; CFD 流热场数据 -&gt; MLP-CNN 重建 -&gt; DE 优化 eta -&gt; CFD 复算 -&gt; 三维迁移验证。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  <a:latin typeface="Microsoft YaHei"/>
              </a:defRPr>
            </a:pPr>
            <a:r>
              <a:t>核心边界：CFD 云图/数值场不是模型输入，而是监督标签；CNN 用于从参数潜在特征解码空间场。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114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153"/>
                </a:solidFill>
                <a:latin typeface="Microsoft YaHei"/>
              </a:defRPr>
            </a:pPr>
            <a:r>
              <a:t>研究问题与目标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0000" y="6570000"/>
            <a:ext cx="144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999" y="1080000"/>
            <a:ext cx="3528000" cy="3780000"/>
          </a:xfrm>
          <a:prstGeom prst="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1170000"/>
            <a:ext cx="32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53"/>
                </a:solidFill>
                <a:latin typeface="Microsoft YaHei"/>
              </a:defRPr>
            </a:pPr>
            <a:r>
              <a:t>工程问题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1404000"/>
            <a:ext cx="3276000" cy="33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换热增强和流阻控制需要同时考虑。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直接用 CFD 搜索高 eta 结构计算成本高。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0" y="1080000"/>
            <a:ext cx="3528000" cy="3780000"/>
          </a:xfrm>
          <a:prstGeom prst="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46000" y="1170000"/>
            <a:ext cx="32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53"/>
                </a:solidFill>
                <a:latin typeface="Microsoft YaHei"/>
              </a:defRPr>
            </a:pPr>
            <a:r>
              <a:t>方法问题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6000" y="1404000"/>
            <a:ext cx="3276000" cy="33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只预测 Nu/f 可解释性不足。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重建速度、压力、温度场后，可以解释性能变化来源。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6000" y="1080000"/>
            <a:ext cx="3528000" cy="3780000"/>
          </a:xfrm>
          <a:prstGeom prst="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2000" y="1170000"/>
            <a:ext cx="32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53"/>
                </a:solidFill>
                <a:latin typeface="Microsoft YaHei"/>
              </a:defRPr>
            </a:pPr>
            <a:r>
              <a:t>本文目标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2000" y="1404000"/>
            <a:ext cx="3276000" cy="33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输入七参数，预测 u/v/p/T 场和 Nu/f。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eta 由 Nu/f 计算，并通过 DE 寻优。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最终用 CFD 复算和三维模型验证。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114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153"/>
                </a:solidFill>
                <a:latin typeface="Microsoft YaHei"/>
              </a:defRPr>
            </a:pPr>
            <a:r>
              <a:t>完整技术路线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0000" y="6570000"/>
            <a:ext cx="144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368000"/>
            <a:ext cx="1537714" cy="79200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七参数建模</a:t>
            </a:r>
          </a:p>
        </p:txBody>
      </p:sp>
      <p:sp>
        <p:nvSpPr>
          <p:cNvPr id="5" name="Rectangle 4"/>
          <p:cNvSpPr/>
          <p:nvPr/>
        </p:nvSpPr>
        <p:spPr>
          <a:xfrm>
            <a:off x="2059714" y="1368000"/>
            <a:ext cx="1537714" cy="79200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二维 CFD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87428" y="1368000"/>
            <a:ext cx="1537714" cy="79200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场数据网格化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315142" y="1368000"/>
            <a:ext cx="1537714" cy="792000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MLP-CNN 重建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2857" y="1368000"/>
            <a:ext cx="1537714" cy="792000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DE 优化 eta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570571" y="1368000"/>
            <a:ext cx="1537714" cy="79200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CFD 复算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98285" y="1368000"/>
            <a:ext cx="1537714" cy="79200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三维验证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880000"/>
            <a:ext cx="10440000" cy="18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数据链：case_id、七参数、Nu、f、eta、u/v/p/T 四通道场，统一尺寸 4×50×80。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模型链：MLP Encoder 编码七参数，CNN Decoder 输出流热场，MLP Head 输出 Nu/f。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验证链：代理模型只负责筛选，最终结论以 CFD 复算和三维迁移验证为证据。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114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153"/>
                </a:solidFill>
                <a:latin typeface="Microsoft YaHei"/>
              </a:defRPr>
            </a:pPr>
            <a:r>
              <a:t>数据集与损失函数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0000" y="6570000"/>
            <a:ext cx="144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rial"/>
              </a:defRPr>
            </a:pPr>
            <a:r>
              <a:t>04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3999" y="972000"/>
          <a:ext cx="5760000" cy="27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2880000"/>
              </a:tblGrid>
              <a:tr h="39085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当前结果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</a:tr>
              <a:tr h="390857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样本数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857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训练/验证/测试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700 / 150 / 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857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场数据尺寸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4×50×80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857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场通道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u、v、p、T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857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损失函数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L_u+L_v+L_p+L_T+αL_Nu+βL_f+γL_eta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85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权重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α=1.0, β=1.0, γ=0.2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623999" y="972000"/>
            <a:ext cx="4680000" cy="2736000"/>
          </a:xfrm>
          <a:prstGeom prst="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50000" y="1062000"/>
            <a:ext cx="4428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53"/>
                </a:solidFill>
                <a:latin typeface="Microsoft YaHei"/>
              </a:defRPr>
            </a:pPr>
            <a:r>
              <a:t>eta 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50000" y="1296000"/>
            <a:ext cx="4428000" cy="2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eta = (Nu/Nu0)/(f/f0)^(1/3)。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Nu0 和 f0 来自基准结构。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eta 同时考虑换热提升和流阻代价。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114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153"/>
                </a:solidFill>
                <a:latin typeface="Microsoft YaHei"/>
              </a:defRPr>
            </a:pPr>
            <a:r>
              <a:t>MLP-CNN 模型结构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0000" y="6570000"/>
            <a:ext cx="144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188000"/>
            <a:ext cx="1620000" cy="72000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七参数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2250000" y="1188000"/>
            <a:ext cx="1620000" cy="72000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MLP Encoder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0" y="1188000"/>
            <a:ext cx="1620000" cy="72000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潜在特征 z</a:t>
            </a:r>
          </a:p>
        </p:txBody>
      </p:sp>
      <p:sp>
        <p:nvSpPr>
          <p:cNvPr id="7" name="Rectangle 6"/>
          <p:cNvSpPr/>
          <p:nvPr/>
        </p:nvSpPr>
        <p:spPr>
          <a:xfrm>
            <a:off x="5670000" y="1188000"/>
            <a:ext cx="1620000" cy="720000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CNN Decoder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80000" y="1188000"/>
            <a:ext cx="1620000" cy="720000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u/v/p/T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000" y="2520000"/>
            <a:ext cx="1462500" cy="64800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潜在特征 z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2500" y="2520000"/>
            <a:ext cx="1462500" cy="64800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MLP Head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5000" y="2520000"/>
            <a:ext cx="1462500" cy="648000"/>
          </a:xfrm>
          <a:prstGeom prst="rect">
            <a:avLst/>
          </a:prstGeom>
          <a:solidFill>
            <a:srgbClr val="183153"/>
          </a:solidFill>
          <a:ln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Nu/f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37500" y="2520000"/>
            <a:ext cx="1462500" cy="648000"/>
          </a:xfrm>
          <a:prstGeom prst="rect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eta 计算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3671999"/>
            <a:ext cx="10944000" cy="1728000"/>
          </a:xfrm>
          <a:prstGeom prst="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000" y="3761999"/>
            <a:ext cx="10692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53"/>
                </a:solidFill>
                <a:latin typeface="Microsoft YaHei"/>
              </a:defRPr>
            </a:pPr>
            <a:r>
              <a:t>答辩表述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000" y="3996000"/>
            <a:ext cx="10692000" cy="13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CNN 不是为了读入云图，而是为了生成空间场。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CFD 数值场作为监督标签，使潜在特征学习流动、压降和温度分布。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性能分支与场重建分支共享参数编码特征，避免纯黑箱标量回归。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114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153"/>
                </a:solidFill>
                <a:latin typeface="Microsoft YaHei"/>
              </a:defRPr>
            </a:pPr>
            <a:r>
              <a:t>训练结果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0000" y="6570000"/>
            <a:ext cx="144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rial"/>
              </a:defRPr>
            </a:pPr>
            <a:r>
              <a:t>06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3999" y="900000"/>
          <a:ext cx="3888000" cy="35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000"/>
                <a:gridCol w="1944000"/>
              </a:tblGrid>
              <a:tr h="392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测试集结果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Nu 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0.958093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Nu 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0.843702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f 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0.971174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f 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0.002976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eta 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0.956113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eta 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0.020024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field 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0.966458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T 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1.275088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predict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00" y="1007999"/>
            <a:ext cx="6480000" cy="352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114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153"/>
                </a:solidFill>
                <a:latin typeface="Microsoft YaHei"/>
              </a:defRPr>
            </a:pPr>
            <a:r>
              <a:t>流热场重建效果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0000" y="6570000"/>
            <a:ext cx="144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rial"/>
              </a:defRPr>
            </a:pPr>
            <a:r>
              <a:t>07</a:t>
            </a:r>
          </a:p>
        </p:txBody>
      </p:sp>
      <p:pic>
        <p:nvPicPr>
          <p:cNvPr id="4" name="Picture 3" descr="case_20040_field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827999"/>
            <a:ext cx="11160000" cy="453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114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153"/>
                </a:solidFill>
                <a:latin typeface="Microsoft YaHei"/>
              </a:defRPr>
            </a:pPr>
            <a:r>
              <a:t>DE 优化结果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0000" y="6570000"/>
            <a:ext cx="144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rial"/>
              </a:defRPr>
            </a:pPr>
            <a:r>
              <a:t>08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3999" y="900000"/>
          <a:ext cx="3600000" cy="30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800000"/>
              </a:tblGrid>
              <a:tr h="387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最优值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</a:tr>
              <a:tr h="387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0.000000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7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Twa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0.600000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7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Tb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0.150000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7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1.500000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7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0.960919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7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Tad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1.000000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7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theta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-2.224429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680000" y="900000"/>
            <a:ext cx="6660000" cy="3096000"/>
          </a:xfrm>
          <a:prstGeom prst="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06000" y="990000"/>
            <a:ext cx="6408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53"/>
                </a:solidFill>
                <a:latin typeface="Microsoft YaHei"/>
              </a:defRPr>
            </a:pPr>
            <a:r>
              <a:t>代理模型预测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6000" y="1224000"/>
            <a:ext cx="6408000" cy="2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Nu_pred = 45.453880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f_pred = 0.105865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eta_pred = 1.433572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该候选必须进入 CFD 复算，不能只用代理结果下结论。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114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153"/>
                </a:solidFill>
                <a:latin typeface="Microsoft YaHei"/>
              </a:defRPr>
            </a:pPr>
            <a:r>
              <a:t>二维 CFD 复算验证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0000" y="6570000"/>
            <a:ext cx="144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rial"/>
              </a:defRPr>
            </a:pPr>
            <a:r>
              <a:t>09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3999" y="900000"/>
          <a:ext cx="669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4000"/>
                <a:gridCol w="1674000"/>
                <a:gridCol w="1674000"/>
                <a:gridCol w="1674000"/>
              </a:tblGrid>
              <a:tr h="432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MLP-CNN 预测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CFD 复算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误差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45.453880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46.022427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-0.568547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0.105865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0.106658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-0.000793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1.433572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1.447895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-0.014324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560000" y="900000"/>
            <a:ext cx="3888000" cy="1728000"/>
          </a:xfrm>
          <a:prstGeom prst="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6000" y="990000"/>
            <a:ext cx="363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53"/>
                </a:solidFill>
                <a:latin typeface="Microsoft YaHei"/>
              </a:defRPr>
            </a:pPr>
            <a:r>
              <a:t>复算结论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6000" y="1224000"/>
            <a:ext cx="3636000" cy="13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CFD eta = 1.447895。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高于旧 1000 组 baseline ANN/MLP 复核 eta = 1.420111。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代理模型用于筛选，最终数值以 CFD 复算为准。</a:t>
            </a:r>
          </a:p>
        </p:txBody>
      </p:sp>
      <p:pic>
        <p:nvPicPr>
          <p:cNvPr id="8" name="Picture 7" descr="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3060000"/>
            <a:ext cx="3528000" cy="2160000"/>
          </a:xfrm>
          <a:prstGeom prst="rect">
            <a:avLst/>
          </a:prstGeom>
        </p:spPr>
      </p:pic>
      <p:pic>
        <p:nvPicPr>
          <p:cNvPr id="9" name="Picture 8" descr="velocity_magnit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0" y="3060000"/>
            <a:ext cx="3528000" cy="2160000"/>
          </a:xfrm>
          <a:prstGeom prst="rect">
            <a:avLst/>
          </a:prstGeom>
        </p:spPr>
      </p:pic>
      <p:pic>
        <p:nvPicPr>
          <p:cNvPr id="10" name="Picture 9" descr="press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999" y="3060000"/>
            <a:ext cx="3528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114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153"/>
                </a:solidFill>
                <a:latin typeface="Microsoft YaHei"/>
              </a:defRPr>
            </a:pPr>
            <a:r>
              <a:t>三维迁移验证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0000" y="6570000"/>
            <a:ext cx="144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rial"/>
              </a:defRPr>
            </a:pPr>
            <a:r>
              <a:t>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3999" y="900000"/>
          <a:ext cx="6768000" cy="24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000"/>
                <a:gridCol w="1692000"/>
                <a:gridCol w="1692000"/>
                <a:gridCol w="1692000"/>
              </a:tblGrid>
              <a:tr h="408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三维 baseline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优化结构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变化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</a:tr>
              <a:tr h="408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Tavg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379.201265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375.663499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-3.537766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8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Tmax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380.457118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376.969653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-3.487465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8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Rth K/W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86.051265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82.513499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-4.111%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8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delta_p 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0.013555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0.013028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-3.883%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8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eta3D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1.000000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1.056732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正收益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632000" y="900000"/>
            <a:ext cx="3816000" cy="2448000"/>
          </a:xfrm>
          <a:prstGeom prst="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58000" y="990000"/>
            <a:ext cx="3564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53"/>
                </a:solidFill>
                <a:latin typeface="Microsoft YaHei"/>
              </a:defRPr>
            </a:pPr>
            <a:r>
              <a:t>表述边界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58000" y="1224000"/>
            <a:ext cx="3564000" cy="20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三维是迁移验证，不是三维全局优化。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新版候选在三维中同时降低芯片温度和压降。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eta3D = 1.056732。</a:t>
            </a:r>
          </a:p>
        </p:txBody>
      </p:sp>
      <p:pic>
        <p:nvPicPr>
          <p:cNvPr id="8" name="Picture 7" descr="chip_mlp_cnn_de_multiloss_e10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3600000"/>
            <a:ext cx="3528000" cy="2015999"/>
          </a:xfrm>
          <a:prstGeom prst="rect">
            <a:avLst/>
          </a:prstGeom>
        </p:spPr>
      </p:pic>
      <p:pic>
        <p:nvPicPr>
          <p:cNvPr id="9" name="Picture 8" descr="chip_mlp_cnn_de_multiloss_e10_velo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0" y="3600000"/>
            <a:ext cx="3528000" cy="2015999"/>
          </a:xfrm>
          <a:prstGeom prst="rect">
            <a:avLst/>
          </a:prstGeom>
        </p:spPr>
      </p:pic>
      <p:pic>
        <p:nvPicPr>
          <p:cNvPr id="10" name="Picture 9" descr="chip_mlp_cnn_de_multiloss_e10_press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3999" y="3600000"/>
            <a:ext cx="3528000" cy="2015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114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153"/>
                </a:solidFill>
                <a:latin typeface="Microsoft YaHei"/>
              </a:defRPr>
            </a:pPr>
            <a:r>
              <a:t>参数敏感性分析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8000" y="522000"/>
            <a:ext cx="11088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6C"/>
                </a:solidFill>
                <a:latin typeface="Microsoft YaHei"/>
              </a:defRPr>
            </a:pPr>
            <a:r>
              <a:t>基于1000组CFD标签和当前MLP-CNN代理模型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60000" y="6570000"/>
            <a:ext cx="144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rial"/>
              </a:defRPr>
            </a:pPr>
            <a:r>
              <a:t>11</a:t>
            </a:r>
          </a:p>
        </p:txBody>
      </p:sp>
      <p:pic>
        <p:nvPicPr>
          <p:cNvPr id="5" name="Picture 4" descr="sensitivity_bar_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936000"/>
            <a:ext cx="3528000" cy="2088000"/>
          </a:xfrm>
          <a:prstGeom prst="rect">
            <a:avLst/>
          </a:prstGeom>
        </p:spPr>
      </p:pic>
      <p:pic>
        <p:nvPicPr>
          <p:cNvPr id="6" name="Picture 5" descr="sensitivity_bar_Nu_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000" y="936000"/>
            <a:ext cx="3528000" cy="2088000"/>
          </a:xfrm>
          <a:prstGeom prst="rect">
            <a:avLst/>
          </a:prstGeom>
        </p:spPr>
      </p:pic>
      <p:pic>
        <p:nvPicPr>
          <p:cNvPr id="7" name="Picture 6" descr="local_perturbation_e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000" y="936000"/>
            <a:ext cx="3528000" cy="208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3999" y="3491999"/>
            <a:ext cx="10980000" cy="1512000"/>
          </a:xfrm>
          <a:prstGeom prst="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3581999"/>
            <a:ext cx="10728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53"/>
                </a:solidFill>
                <a:latin typeface="Microsoft YaHei"/>
              </a:defRPr>
            </a:pPr>
            <a:r>
              <a:t>主要结论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00" y="3816000"/>
            <a:ext cx="10728000" cy="11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eta随机森林置换重要性最高参数：Ts，importance=1.361628。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DE最优点附近局部扰动最敏感参数：Ts，eta_range=0.044242。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该结果是统计敏感性和代理局部扰动分析，不等同于严格CFD单因素扫描。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114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153"/>
                </a:solidFill>
                <a:latin typeface="Microsoft YaHei"/>
              </a:defRPr>
            </a:pPr>
            <a:r>
              <a:t>K折短训稳定性验证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8000" y="522000"/>
            <a:ext cx="11088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6C"/>
                </a:solidFill>
                <a:latin typeface="Microsoft YaHei"/>
              </a:defRPr>
            </a:pPr>
            <a:r>
              <a:t>当前MLP-CNN主线的3折补充验证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60000" y="6570000"/>
            <a:ext cx="144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rial"/>
              </a:defRPr>
            </a:pPr>
            <a: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3999" y="900000"/>
          <a:ext cx="612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0000"/>
                <a:gridCol w="2040000"/>
                <a:gridCol w="2040000"/>
              </a:tblGrid>
              <a:tr h="384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均值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标准差</a:t>
                      </a:r>
                    </a:p>
                  </a:txBody>
                  <a:tcPr>
                    <a:solidFill>
                      <a:srgbClr val="183153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Nu_R2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0.935270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0.006772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Nu_MAE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1.034223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0.008901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f_R2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0.897467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0.018731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f_MAE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0.005657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0.000342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eta_R2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0.876571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0.009938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eta_MAE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0.033816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0.000945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field_RMSE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2.836312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0.087924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T_MAE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2.100128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1E1E"/>
                          </a:solidFill>
                          <a:latin typeface="Microsoft YaHei"/>
                        </a:defRPr>
                      </a:pPr>
                      <a:r>
                        <a:t>0.028304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020000" y="900000"/>
            <a:ext cx="4320000" cy="3456000"/>
          </a:xfrm>
          <a:prstGeom prst="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46000" y="990000"/>
            <a:ext cx="4068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53"/>
                </a:solidFill>
                <a:latin typeface="Microsoft YaHei"/>
              </a:defRPr>
            </a:pPr>
            <a:r>
              <a:t>讲法边界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6000" y="1224000"/>
            <a:ext cx="4068000" cy="30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3折验证用于说明不同划分下模型可稳定收敛。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每折只训练5 epoch，因此不替代10 epoch正式模型指标。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正式精度仍以mlp_cnn_field_multiloss_e10测试集结果为准。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114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153"/>
                </a:solidFill>
                <a:latin typeface="Microsoft YaHei"/>
              </a:defRPr>
            </a:pPr>
            <a:r>
              <a:t>物理约束与注意力机制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8000" y="522000"/>
            <a:ext cx="11088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6C"/>
                </a:solidFill>
                <a:latin typeface="Microsoft YaHei"/>
              </a:defRPr>
            </a:pPr>
            <a:r>
              <a:t>能证明的写成结果，未训练的写成扩展设计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60000" y="6570000"/>
            <a:ext cx="144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72000"/>
            <a:ext cx="5328000" cy="3528000"/>
          </a:xfrm>
          <a:prstGeom prst="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000" y="1062000"/>
            <a:ext cx="50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53"/>
                </a:solidFill>
                <a:latin typeface="Microsoft YaHei"/>
              </a:defRPr>
            </a:pPr>
            <a:r>
              <a:t>当前已实证使用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00" y="1296000"/>
            <a:ext cx="5076000" cy="31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L_eta指标一致性约束：eta由Nu/f计算，不作为独立黑箱输出。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u/v/p/T场监督：用CFD数值场约束潜在特征。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损失函数：L_u+L_v+L_p+L_T+alpha L_Nu+beta L_f+gamma L_eta。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2000" y="972000"/>
            <a:ext cx="5328000" cy="3528000"/>
          </a:xfrm>
          <a:prstGeom prst="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000" y="1062000"/>
            <a:ext cx="50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53"/>
                </a:solidFill>
                <a:latin typeface="Microsoft YaHei"/>
              </a:defRPr>
            </a:pPr>
            <a:r>
              <a:t>扩展与边界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000" y="1296000"/>
            <a:ext cx="5076000" cy="31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PDE残差、边界条件损失目前是可扩展设计，不写成已完成PINN结果。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旧CBAM/PI-CNN-CBAM属于几何掩码或图像输入路线，只能作历史对照。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当前MLP-CNN注意力版尚未独立训练，不能虚构消融数值。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114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153"/>
                </a:solidFill>
                <a:latin typeface="Microsoft YaHei"/>
              </a:defRPr>
            </a:pPr>
            <a:r>
              <a:t>消融、K 折与论文表达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0000" y="6570000"/>
            <a:ext cx="144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3999" y="1007999"/>
            <a:ext cx="5292000" cy="3528000"/>
          </a:xfrm>
          <a:prstGeom prst="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1098000"/>
            <a:ext cx="50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53"/>
                </a:solidFill>
                <a:latin typeface="Microsoft YaHei"/>
              </a:defRPr>
            </a:pPr>
            <a:r>
              <a:t>消融怎么写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" y="1332000"/>
            <a:ext cx="5040000" cy="31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旧 ANN/MLP 作为 baseline，对比纯标量回归。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MLP-CNN 增加 u/v/p/T 重建监督，说明 CNN 的空间场建模作用。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500 组与 1000 组作为数据规模对照，说明样本量对稳定性的影响。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2000" y="1007999"/>
            <a:ext cx="5292000" cy="3528000"/>
          </a:xfrm>
          <a:prstGeom prst="rect">
            <a:avLst/>
          </a:prstGeom>
          <a:solidFill>
            <a:srgbClr val="F6F8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000" y="1098000"/>
            <a:ext cx="504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83153"/>
                </a:solidFill>
                <a:latin typeface="Microsoft YaHei"/>
              </a:defRPr>
            </a:pPr>
            <a:r>
              <a:t>K 折怎么写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000" y="1332000"/>
            <a:ext cx="5040000" cy="31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K 折用于证明一次随机划分不是偶然结果。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报告 Nu、f、eta 的均值和标准差。</a:t>
            </a:r>
          </a:p>
          <a:p>
            <a:pPr>
              <a:spcAft>
                <a:spcPts val="600"/>
              </a:spcAft>
              <a:defRPr sz="1100">
                <a:solidFill>
                  <a:srgbClr val="1E1E1E"/>
                </a:solidFill>
                <a:latin typeface="Microsoft YaHei"/>
              </a:defRPr>
            </a:pPr>
            <a:r>
              <a:t>场重建报告 field_RMSE、T_MAE、p_MAE 的均值和标准差。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114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153"/>
                </a:solidFill>
                <a:latin typeface="Microsoft YaHei"/>
              </a:defRPr>
            </a:pPr>
            <a:r>
              <a:t>老师可能追问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0000" y="6570000"/>
            <a:ext cx="144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972000"/>
            <a:ext cx="10980000" cy="403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问：这是不是几何掩码？答：最终主线不是几何掩码，而是参数到流热场的 MLP-CNN 重建。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问：CNN 学到了什么？答：CNN 解码 u/v/p/T 空间场，学习局部空间分布和热流耦合结构。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问：为什么还要 CFD 复算？答：代理模型用于快速筛选，最终性能必须由 CFD 复算确认。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问：三维是不是全局最优？答：不是。三维只做迁移验证，结论是二维优化候选在三维模型中仍有效。</a:t>
            </a:r>
          </a:p>
          <a:p>
            <a:pPr>
              <a:spcAft>
                <a:spcPts val="600"/>
              </a:spcAft>
              <a:defRPr sz="1500">
                <a:solidFill>
                  <a:srgbClr val="1E1E1E"/>
                </a:solidFill>
                <a:latin typeface="Microsoft YaHei"/>
              </a:defRPr>
            </a:pPr>
            <a:r>
              <a:t>问：eta 是什么？答：eta = (Nu/Nu0)/(f/f0)^(1/3)，同时考虑换热增强和流阻代价。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62000"/>
            <a:ext cx="11448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3153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0000" y="6570000"/>
            <a:ext cx="1440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152000"/>
            <a:ext cx="10440000" cy="3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建立了七参数到 u/v/p/T 流热场及 Nu/f 的 MLP-CNN 代理模型，测试集 eta R2 = 0.956113。</a:t>
            </a:r>
          </a:p>
          <a:p>
            <a:pPr>
              <a:spcAft>
                <a:spcPts val="6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DE 得到候选结构，二维 CFD 复算 eta_cfd = 1.447895。</a:t>
            </a:r>
          </a:p>
          <a:p>
            <a:pPr>
              <a:spcAft>
                <a:spcPts val="6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三维芯片级模型迁移验证 eta3D = 1.056732，当前表现为正收益。</a:t>
            </a:r>
          </a:p>
          <a:p>
            <a:pPr>
              <a:spcAft>
                <a:spcPts val="600"/>
              </a:spcAft>
              <a:defRPr sz="1700">
                <a:solidFill>
                  <a:srgbClr val="1E1E1E"/>
                </a:solidFill>
                <a:latin typeface="Microsoft YaHei"/>
              </a:defRPr>
            </a:pPr>
            <a:r>
              <a:t>论文主线统一为：参数化建模 + CFD 数据集 + MLP-CNN 流热场重建 + DE 优化 + CFD 复算 + 三维迁移验证。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