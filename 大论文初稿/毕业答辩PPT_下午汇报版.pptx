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基于物理信息卷积神经网络的翼型管翅片散热器</a:t>
            </a:r>
            <a:br/>
            <a:r>
              <a:t>流热性能预测与参数优化研究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CCDD"/>
                </a:solidFill>
                <a:latin typeface="Microsoft YaHei"/>
              </a:defRPr>
            </a:pPr>
            <a:r>
              <a:t>硕士学位论文答辩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汇报人：XXX    导师：XXX教授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????????????????????????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rPr sz="1500">
                <a:solidFill>
                  <a:srgbClr val="282828"/>
                </a:solidFill>
              </a:rPr>
              <a:t>? ??????????????????????????</a:t>
            </a:r>
          </a:p>
          <a:p>
            <a:pPr/>
            <a:r>
              <a:rPr sz="1500">
                <a:solidFill>
                  <a:srgbClr val="282828"/>
                </a:solidFill>
              </a:rPr>
              <a:t>? ??/??????????????????????????????</a:t>
            </a:r>
          </a:p>
          <a:p>
            <a:pPr/>
            <a:r>
              <a:rPr sz="1500">
                <a:solidFill>
                  <a:srgbClr val="282828"/>
                </a:solidFill>
              </a:rPr>
              <a:t>? ??????CFD???6???/????????????????</a:t>
            </a:r>
          </a:p>
          <a:p>
            <a:pPr/>
            <a:r>
              <a:rPr sz="1500">
                <a:solidFill>
                  <a:srgbClr val="282828"/>
                </a:solidFill>
              </a:rPr>
              <a:t>? ??????CFD???????????????????????????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5943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C9A"/>
                </a:solidFill>
                <a:latin typeface="Microsoft YaHei"/>
              </a:defRPr>
            </a:pPr>
            <a:r>
              <a:rPr sz="1500">
                <a:solidFill>
                  <a:srgbClr val="282828"/>
                </a:solidFill>
              </a:rPr>
              <a:t>???????????CFD????CFD???????????????? + ???? + CFD????</a:t>
            </a:r>
          </a:p>
        </p:txBody>
      </p:sp>
      <p:pic>
        <p:nvPicPr>
          <p:cNvPr id="7" name="Picture 6" descr="fig5_2_3d_model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7548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??????6????????????????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C9A"/>
                </a:solidFill>
                <a:latin typeface="Microsoft YaHei"/>
              </a:defRPr>
            </a:pPr>
            <a:r>
              <a:t>NACA四位数翼型参数化 + 管阵列排布参数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46304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范围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最大弯度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[0.02, 0.06]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翼型截面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Twa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最大弯度位置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[0.2, 0.5]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翼型截面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最大厚度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[0.06, 0.15]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翼型截面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Ts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横向间距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[0.8, 1.5]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阵列排布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纵向间距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[0.6, 1.2]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阵列排布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Tad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错排偏移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[0, 0.6]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阵列排布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035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 sz="1500">
                <a:solidFill>
                  <a:srgbClr val="282828"/>
                </a:solidFill>
              </a:rPr>
              <a:t>?????NACA0012???? + 3?8????</a:t>
            </a:r>
          </a:p>
          <a:p>
            <a:pPr/>
            <a:r>
              <a:rPr sz="1500">
                <a:solidFill>
                  <a:srgbClr val="282828"/>
                </a:solidFill>
              </a:rPr>
              <a:t>?????X = [Ta, Twa, Tb, Ts, Tt, Tad]?</a:t>
            </a:r>
          </a:p>
          <a:p>
            <a:pPr/>
            <a:r>
              <a:rPr sz="1500">
                <a:solidFill>
                  <a:srgbClr val="282828"/>
                </a:solidFill>
              </a:rPr>
              <a:t>????????????????????????????????????????????</a:t>
            </a:r>
          </a:p>
        </p:txBody>
      </p:sp>
      <p:pic>
        <p:nvPicPr>
          <p:cNvPr id="8" name="Picture 7" descr="fig2_2_tube_wak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??CFD???????????????????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C9A"/>
                </a:solidFill>
                <a:latin typeface="Microsoft YaHei"/>
              </a:defRPr>
            </a:pPr>
            <a:r>
              <a:t>几何模型与边界条件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rPr sz="1400">
                <a:solidFill>
                  <a:srgbClr val="282828"/>
                </a:solidFill>
              </a:rPr>
              <a:t>? ???COMSOL Multiphysics 6.3?????????????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???3?8???????????????????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???????/??????????0 Pa????????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????????????????????????????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???????????????????????????????????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18872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188720"/>
                <a:gridCol w="118872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材料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ρ(kg/m³)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μ(Pa·s)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k(W/(m·K))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Cp(J/(kg·K))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空气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1.225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1.81×10⁻⁵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1005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铝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2700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237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900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C9A"/>
                </a:solidFill>
                <a:latin typeface="Microsoft YaHei"/>
              </a:defRPr>
            </a:pPr>
            <a:r>
              <a:t>求解器配置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4747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rPr sz="1400">
                <a:solidFill>
                  <a:srgbClr val="282828"/>
                </a:solidFill>
              </a:rPr>
              <a:t>?????????-????????????Nu?f???????????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???????????????????????????????????????????????????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?????????????????????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5</a:t>
            </a:r>
          </a:p>
        </p:txBody>
      </p:sp>
      <p:pic>
        <p:nvPicPr>
          <p:cNvPr id="5" name="Picture 4" descr="fig3_3_mesh_coms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303520" cy="3241040"/>
          </a:xfrm>
          <a:prstGeom prst="rect">
            <a:avLst/>
          </a:prstGeom>
        </p:spPr>
      </p:pic>
      <p:pic>
        <p:nvPicPr>
          <p:cNvPr id="6" name="Picture 5" descr="fig3_4_local_mesh_coms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30937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572000"/>
          <a:ext cx="9875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网格等级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单元数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Nu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Nu偏差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f偏差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粗网格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~5,000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0.425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中等网格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~10,000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19.3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0.418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1.5%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细网格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~20,000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0.412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基准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基准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rPr sz="1500">
                <a:solidFill>
                  <a:srgbClr val="282828"/>
                </a:solidFill>
              </a:rPr>
              <a:t>????????????? + ?????????</a:t>
            </a:r>
          </a:p>
          <a:p>
            <a:pPr/>
            <a:r>
              <a:rPr sz="1500">
                <a:solidFill>
                  <a:srgbClr val="282828"/>
                </a:solidFill>
              </a:rPr>
              <a:t>??????Nu?f???????????????????????????????????????????</a:t>
            </a:r>
          </a:p>
          <a:p>
            <a:pPr/>
            <a:r>
              <a:rPr sz="1500">
                <a:solidFill>
                  <a:srgbClr val="282828"/>
                </a:solidFill>
              </a:rPr>
              <a:t>??????????????????????????500???????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????500?CFD?????????????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rPr sz="1400">
                <a:solidFill>
                  <a:srgbClr val="282828"/>
                </a:solidFill>
              </a:rPr>
              <a:t>? ?????????6???????500?????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COMSOL Java API????????????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???????/??/???????????????????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????????????????????????Nu/f??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rPr sz="1400">
                <a:solidFill>
                  <a:srgbClr val="282828"/>
                </a:solidFill>
              </a:rPr>
              <a:t>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6?????????????????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??/??/??????????????????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???Nu?f????????</a:t>
            </a:r>
          </a:p>
        </p:txBody>
      </p:sp>
      <p:pic>
        <p:nvPicPr>
          <p:cNvPr id="7" name="Picture 6" descr="fig3_8_temperature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0292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??????????????????????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7</a:t>
            </a:r>
          </a:p>
        </p:txBody>
      </p:sp>
      <p:pic>
        <p:nvPicPr>
          <p:cNvPr id="5" name="Picture 4" descr="fig3_7_velocity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474720" cy="1958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3C6E"/>
                </a:solidFill>
                <a:latin typeface="Microsoft YaHei"/>
              </a:defRPr>
            </a:pPr>
            <a:r>
              <a:t>速度场：管间加速+管后尾迹</a:t>
            </a:r>
          </a:p>
        </p:txBody>
      </p:sp>
      <p:pic>
        <p:nvPicPr>
          <p:cNvPr id="7" name="Picture 6" descr="fig3_8_temperature_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371600"/>
            <a:ext cx="3474720" cy="19584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624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3C6E"/>
                </a:solidFill>
                <a:latin typeface="Microsoft YaHei"/>
              </a:defRPr>
            </a:pPr>
            <a:r>
              <a:t>温度场：热源高温集中+沿程升温</a:t>
            </a:r>
          </a:p>
        </p:txBody>
      </p:sp>
      <p:pic>
        <p:nvPicPr>
          <p:cNvPr id="9" name="Picture 8" descr="fig3_9_pressure_f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371600"/>
            <a:ext cx="3474720" cy="19584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3C6E"/>
                </a:solidFill>
                <a:latin typeface="Microsoft YaHei"/>
              </a:defRPr>
            </a:pPr>
            <a:r>
              <a:t>压力场：前缘高压+后缘低压尾迹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392B"/>
                </a:solidFill>
                <a:latin typeface="Microsoft YaHei"/>
              </a:defRPr>
            </a:pPr>
            <a:r>
              <a:rPr sz="1400">
                <a:solidFill>
                  <a:srgbClr val="282828"/>
                </a:solidFill>
              </a:rPr>
              <a:t>????????????????????????????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???????????????????????????????????????????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?????????????????????????CFD???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?????CFD??????????????????????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1645920" cy="109728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CFD建模</a:t>
            </a:r>
            <a:br/>
            <a:r>
              <a:t>COMSOL 2D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645920"/>
            <a:ext cx="1645920" cy="109728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LHS采样</a:t>
            </a:r>
            <a:br/>
            <a:r>
              <a:t>500组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645920"/>
            <a:ext cx="1645920" cy="109728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多模态</a:t>
            </a:r>
            <a:br/>
            <a:r>
              <a:t>数据集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645920"/>
            <a:ext cx="1645920" cy="109728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五模型</a:t>
            </a:r>
            <a:br/>
            <a:r>
              <a:t>消融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645920"/>
            <a:ext cx="1645920" cy="109728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PI-CNN</a:t>
            </a:r>
            <a:br/>
            <a:r>
              <a:t>-CBAM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645920"/>
            <a:ext cx="1645920" cy="109728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DE优化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840480"/>
            <a:ext cx="18288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2D CFD</a:t>
            </a:r>
            <a:br/>
            <a:r>
              <a:t>独立复核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840480"/>
            <a:ext cx="18288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3D工程</a:t>
            </a:r>
            <a:br/>
            <a:r>
              <a:t>验证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840480"/>
            <a:ext cx="18288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流场机理</a:t>
            </a:r>
            <a:br/>
            <a:r>
              <a:t>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 sz="1400">
                <a:solidFill>
                  <a:srgbClr val="282828"/>
                </a:solidFill>
              </a:rPr>
              <a:t>????????COMSOL?????????????????????DE???????????CFD/???????????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五种预测模型架构概览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1031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MLP基线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~17K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6→64→128→64→2</a:t>
            </a:r>
            <a:br/>
            <a:r>
              <a:t>仅几何参数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1371600"/>
            <a:ext cx="21031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39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FeatureMLP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~57K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39" y="25603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258维融合</a:t>
            </a:r>
            <a:br/>
            <a:r>
              <a:t>6参数+252图像特征</a:t>
            </a:r>
            <a:br/>
            <a:r>
              <a:t>sklearn MLPRegressor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59" y="1371600"/>
            <a:ext cx="21031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CNN+CBAM</a:t>
            </a:r>
            <a:br/>
            <a:r>
              <a:t>大参数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~7.67M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25603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3并行CNN+CBAM</a:t>
            </a:r>
            <a:br/>
            <a:r>
              <a:t>Pool(4×4)</a:t>
            </a:r>
            <a:br/>
            <a:r>
              <a:t>12416维融合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79" y="1371600"/>
            <a:ext cx="21031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79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CNN+CBAM</a:t>
            </a:r>
            <a:br/>
            <a:r>
              <a:t>+GAP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~2.4M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25603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同上架构</a:t>
            </a:r>
            <a:br/>
            <a:r>
              <a:t>Pool(1×1) GAP</a:t>
            </a:r>
            <a:br/>
            <a:r>
              <a:t>896维融合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371600"/>
            <a:ext cx="21031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PI-CNN</a:t>
            </a:r>
            <a:br/>
            <a:r>
              <a:t>-CBAM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~3.7M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5603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GAP+FieldHead</a:t>
            </a:r>
            <a:br/>
            <a:r>
              <a:t>64×64温度场</a:t>
            </a:r>
            <a:br/>
            <a:r>
              <a:t>Laplacian约束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1463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1463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1463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1463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C9A"/>
                </a:solidFill>
                <a:latin typeface="Microsoft YaHei"/>
              </a:defRPr>
            </a:pPr>
            <a:r>
              <a:t>递进消融：几何参数 → 图像统计特征 → CNN深度特征 → GAP反过拟合 → 物理信息约束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?????????????????????????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C9A"/>
                </a:solidFill>
                <a:latin typeface="Microsoft YaHei"/>
              </a:defRPr>
            </a:pPr>
            <a:r>
              <a:t>图像流（3并行CNN分支）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rPr sz="1300">
                <a:solidFill>
                  <a:srgbClr val="282828"/>
                </a:solidFill>
              </a:rPr>
              <a:t>????????????????????CNN???CBAM???????????????????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?????CNN???????????????????????????????????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C9A"/>
                </a:solidFill>
                <a:latin typeface="Microsoft YaHei"/>
              </a:defRPr>
            </a:pPr>
            <a:r>
              <a:t>CBAM注意力模块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通道注意力：GAP + GMP → 共享MLP → Sigmoid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 → 自适应强化关键特征通道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空间注意力：通道avg+max → 7×7 Conv → Sigmoid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 → 聚焦翼型前缘、尾迹剪切层等关键区域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输出：F'' = M_s ⊗ (M_c ⊗ 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C9A"/>
                </a:solidFill>
                <a:latin typeface="Microsoft YaHei"/>
              </a:defRPr>
            </a:pPr>
            <a:r>
              <a:t>参数流 + 融合预测器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4805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rPr sz="1300">
                <a:solidFill>
                  <a:srgbClr val="282828"/>
                </a:solidFill>
              </a:rPr>
              <a:t>????6??????MLP?????????????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???????Nu?f?????????????????????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?????????????????????????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C9A"/>
                </a:solidFill>
                <a:latin typeface="Microsoft YaHei"/>
              </a:defRPr>
            </a:pPr>
            <a:r>
              <a:t>FieldHead温度场重建分支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输入：骨干融合特征 896维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投影层：896 → 256×4×4 (256通道, 4×4空间)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上采样1：ConvTranspose2d → 8×8 + CBAM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上采样2：ConvTranspose2d → 16×16 + CBAM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上采样3：ConvTranspose2d → 32×32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上采样4：ConvTranspose2d → 64×64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输出卷积：多通道 → 单通道64×64温度场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新增参数 ~1.3M，总计 ~3.7M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C9A"/>
                </a:solidFill>
                <a:latin typeface="Microsoft YaHei"/>
              </a:defRPr>
            </a:pPr>
            <a:r>
              <a:t>物理约束与联合损失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rPr sz="1300">
                <a:solidFill>
                  <a:srgbClr val="282828"/>
                </a:solidFill>
              </a:rPr>
              <a:t>Laplacian?????????????5???????????????????????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???????????????????????Navier-Stokes?????????????????????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931920"/>
            <a:ext cx="5303520" cy="20116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联合损失函数：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rPr sz="1300">
                <a:solidFill>
                  <a:srgbClr val="282828"/>
                </a:solidFill>
              </a:rPr>
              <a:t>???? = Nu/f???? + ??????? + ???Laplacian????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?????????????Nu?f??????????????????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???PI-CNN-CBAM?Nu??????f??????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241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参数量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Nu R²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Nu MAE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 R²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 MAE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MLP基线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~17K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0.9701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0.3301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0.9459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0.000843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FeatureMLP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~57K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0.9756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0.2841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0.9633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0.000549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CNN+CBAM大参数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~7.67M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0.9603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0.3461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0.9580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0.000729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CNN+CBAM+GAP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~2.4M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0.9871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0.2194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0.9801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0.000522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PI-CNN-CBAM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~3.7M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0.9911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0.1829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0.9772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0.000551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rPr sz="1500">
                <a:solidFill>
                  <a:srgbClr val="282828"/>
                </a:solidFill>
              </a:rPr>
              <a:t>? PI-CNN-CBAM?Nu R?=0.9911?Nu MAE=0.1829?????????</a:t>
            </a:r>
          </a:p>
          <a:p>
            <a:pPr/>
            <a:r>
              <a:rPr sz="1500">
                <a:solidFill>
                  <a:srgbClr val="282828"/>
                </a:solidFill>
              </a:rPr>
              <a:t>? GAP??????????????????Nu R???</a:t>
            </a:r>
          </a:p>
          <a:p>
            <a:pPr/>
            <a:r>
              <a:rPr sz="1500">
                <a:solidFill>
                  <a:srgbClr val="282828"/>
                </a:solidFill>
              </a:rPr>
              <a:t>? ????????????????????????</a:t>
            </a:r>
          </a:p>
          <a:p>
            <a:pPr/>
            <a:r>
              <a:rPr sz="1500">
                <a:solidFill>
                  <a:srgbClr val="282828"/>
                </a:solidFill>
              </a:rPr>
              <a:t>? ???????????????????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?????GAP???????????????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0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Pool(4×4) — 7.67M参数 — 严重过拟合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融合特征：12,416维 → 首层参数6.36M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Nu R² = 0.9603（甚至 &lt; MLP基线!）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训练损失持续下降，验证损失波动上升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泛化间隙随训练不断扩大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GAP Pool(1×1) — 2.4M参数 — 泛化良好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融合特征：896维 → 首层参数0.46M（↓92.8%）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Nu R² = 0.9871（+2.68）, MAE↓36.6%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f R² = 0.9801（+2.21）, MAE↓28.4%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验证损失平稳收敛，早停有效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846320"/>
            <a:ext cx="9144000" cy="1371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5029200"/>
            <a:ext cx="859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rPr sz="1400">
                <a:solidFill>
                  <a:srgbClr val="282828"/>
                </a:solidFill>
              </a:rPr>
              <a:t>???????????????????????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??????????????????????????GAP???????????????????????????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?????????????????????????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C9A"/>
                </a:solidFill>
                <a:latin typeface="Microsoft YaHei"/>
              </a:defRPr>
            </a:pPr>
            <a:r>
              <a:t>目标：max η = (Nu/Nu₀) / (f/f₀)^(1/3)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rPr sz="1400">
                <a:solidFill>
                  <a:srgbClr val="282828"/>
                </a:solidFill>
              </a:rPr>
              <a:t>? ?????? = (Nu/Nu?)/(f/f?)^(1/3)??????????????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?????????????????????????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???????CFD?????????????? + CFD??????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?????????????????????????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371600"/>
          <a:ext cx="4663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基准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变化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-12.5%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Twa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0.40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0.40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Ts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Tad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0.50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0.50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rPr sz="1500">
                <a:solidFill>
                  <a:srgbClr val="282828"/>
                </a:solidFill>
              </a:rPr>
              <a:t>?????????????Nu?????????????????????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??CFD?????????????????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332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560320"/>
                <a:gridCol w="21031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基准(CFD)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优化(预测)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优化(CFD)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变化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19.6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+5.9%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0.035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0.038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0.037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+5.7%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+4.0%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R_th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R₀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0.943R₀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-5.7%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31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rPr sz="1400">
                <a:solidFill>
                  <a:srgbClr val="282828"/>
                </a:solidFill>
              </a:rPr>
              <a:t>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???COMSOL???????????????????????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????Nu?f??????/??????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??????????????????????????????????????????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????????????????????????????????????????????</a:t>
            </a:r>
          </a:p>
        </p:txBody>
      </p:sp>
      <p:pic>
        <p:nvPicPr>
          <p:cNvPr id="7" name="Picture 6" descr="fig4_9_tempera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931920"/>
            <a:ext cx="5029200" cy="94548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??????????????????????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C9A"/>
                </a:solidFill>
                <a:latin typeface="Microsoft YaHei"/>
              </a:defRPr>
            </a:pPr>
            <a:r>
              <a:t>几何模型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rPr sz="1300">
                <a:solidFill>
                  <a:srgbClr val="282828"/>
                </a:solidFill>
              </a:rPr>
              <a:t>?????????????????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??????? + 3?8????? + ??????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???????/????????????????????/????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????????????????????????????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??????????????????????????????????</a:t>
            </a:r>
          </a:p>
        </p:txBody>
      </p:sp>
      <p:pic>
        <p:nvPicPr>
          <p:cNvPr id="7" name="Picture 6" descr="fig5_2_3d_model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4864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C9A"/>
                </a:solidFill>
                <a:latin typeface="Microsoft YaHei"/>
              </a:defRPr>
            </a:pPr>
            <a:r>
              <a:t>三维网格与求解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rPr sz="1300">
                <a:solidFill>
                  <a:srgbClr val="282828"/>
                </a:solidFill>
              </a:rPr>
              <a:t>????????????????????????????????????CFD???????????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?????????????????/????????????????</a:t>
            </a:r>
          </a:p>
        </p:txBody>
      </p:sp>
      <p:pic>
        <p:nvPicPr>
          <p:cNvPr id="10" name="Picture 9" descr="fig5_3_3d_mesh_coms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114800"/>
            <a:ext cx="54864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?????????????????????????????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基准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变化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芯片Tmax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318.2K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316.7K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-1.5K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热阻R_th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R₀,₃D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0.984R₀,₃D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-1.6%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压降Δp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Δp₀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0.83Δp₀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-17.0%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η_3D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η₀,₃D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1.081η₀,₃D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+8.1%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rPr sz="1400">
                <a:solidFill>
                  <a:srgbClr val="282828"/>
                </a:solidFill>
              </a:rPr>
              <a:t>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?????????????????????????????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??????????????????????????/????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????????????????????????????</a:t>
            </a:r>
          </a:p>
          <a:p>
            <a:pPr/>
            <a:r>
              <a:rPr sz="1400">
                <a:solidFill>
                  <a:srgbClr val="282828"/>
                </a:solidFill>
              </a:rPr>
              <a:t>? ????????????????????????????????</a:t>
            </a:r>
          </a:p>
        </p:txBody>
      </p:sp>
      <p:pic>
        <p:nvPicPr>
          <p:cNvPr id="7" name="Picture 6" descr="fig5_7_3d_temperature_coms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486400" cy="1867711"/>
          </a:xfrm>
          <a:prstGeom prst="rect">
            <a:avLst/>
          </a:prstGeom>
        </p:spPr>
      </p:pic>
      <p:pic>
        <p:nvPicPr>
          <p:cNvPr id="8" name="Picture 7" descr="fig5_6_3d_velocity_coms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840480"/>
            <a:ext cx="5486400" cy="18677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1F4E79"/>
                </a:solidFill>
              </a:rPr>
              <a:t>?????????CFD????????????????????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  主要结论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rPr sz="1300">
                <a:solidFill>
                  <a:srgbClr val="282828"/>
                </a:solidFill>
              </a:rPr>
              <a:t>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 ??500??????CFD?????????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 ??????????????GAP???????????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 PI-CNN-CBAM????Nu????????Nu R?=0.9911</a:t>
            </a:r>
          </a:p>
          <a:p>
            <a:pPr/>
            <a:r>
              <a:rPr sz="1300">
                <a:solidFill>
                  <a:srgbClr val="282828"/>
                </a:solidFill>
              </a:rPr>
              <a:t>? GAP????????????????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 ????????????????????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 ???????????????????????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  创新点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rPr sz="1300">
                <a:solidFill>
                  <a:srgbClr val="282828"/>
                </a:solidFill>
              </a:rPr>
              <a:t>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 ????CBAM?FieldHead???????PI-CNN-CBAM??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 ??GAP?????????????????????????</a:t>
            </a:r>
          </a:p>
          <a:p>
            <a:pPr/>
            <a:r>
              <a:rPr sz="1300">
                <a:solidFill>
                  <a:srgbClr val="282828"/>
                </a:solidFill>
              </a:rPr>
              <a:t>? ????????????????????????????CFD????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感谢各位老师的指导与建议！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CCDD"/>
                </a:solidFill>
                <a:latin typeface="Microsoft YaHei"/>
              </a:defRPr>
            </a:pPr>
            <a:r>
              <a:t>恳请各位专家批评指正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500" b="1">
                <a:solidFill>
                  <a:srgbClr val="1F4E79"/>
                </a:solidFill>
              </a:rPr>
              <a:t>????1????CFD??????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73152" cy="5212080"/>
          </a:xfrm>
          <a:prstGeom prst="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Q??????????A??????????????????????????????????????????????????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Q??????/???A???Re?????????????????????????????/?????????????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Q??????????A??Nu?f??????????????????????????????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Q??????????A?????????????????????????????????????????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500" b="1">
                <a:solidFill>
                  <a:srgbClr val="1F4E79"/>
                </a:solidFill>
              </a:rPr>
              <a:t>????2??????????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73152" cy="5212080"/>
          </a:xfrm>
          <a:prstGeom prst="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Q????????????A??????????????????/??/???????????????????????Nu?f?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Q?CBAM?????A?????????????????????????????????????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Q?GAP??????A??????????????????????????????????????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Q???????????????A?????CFD????????????????????????????????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500" b="1">
                <a:solidFill>
                  <a:srgbClr val="1F4E79"/>
                </a:solidFill>
              </a:rPr>
              <a:t>????3????????????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73152" cy="5212080"/>
          </a:xfrm>
          <a:prstGeom prst="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Q????????Nu?A????????????????????????????????????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Q?????????????A?????????COMSOL????????????????????????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Q????????????????A????????????????????????????????????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Q???????????A???????????????????????????????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500" b="1">
                <a:solidFill>
                  <a:srgbClr val="1F4E79"/>
                </a:solidFill>
              </a:rPr>
              <a:t>????4??????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73152" cy="5212080"/>
          </a:xfrm>
          <a:prstGeom prst="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????????6????????CFD???????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???COMSOL??500?????????PI-CNN-CBAM????????????????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??????PI-CNN-CBAM???Nu R?=0.9911?GAP?????????????????????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82828"/>
                </a:solidFill>
              </a:rPr>
              <a:t>?????????????????????????CFD??????????????????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