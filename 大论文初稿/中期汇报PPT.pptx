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9144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Microsoft YaHei"/>
              </a:defRPr>
            </a:pPr>
            <a:r>
              <a:t>基于物理信息卷积神经网络的翼型管翅片散热器</a:t>
            </a:r>
            <a:br/>
            <a:r>
              <a:t>流热性能预测与参数优化研究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BCCDD"/>
                </a:solidFill>
                <a:latin typeface="Microsoft YaHei"/>
              </a:defRPr>
            </a:pPr>
            <a:r>
              <a:t>硕士学位论文答辩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8912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汇报人：XXX    导师：XXX教授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2920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2026年6月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研究背景与意义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  CPU/GPU等电子芯片功耗持续攀升，散热需求日益严峻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  空气侧对流换热是风冷散热系统的主要热阻瓶颈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  传统圆管翅片散热器尾迹区大、压降高，换热效率受限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  翼型管流线型截面可推迟流动分离，兼顾高换热与低阻力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  多参数耦合设计（6维）使传统CFD逐点优化成本高昂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  纯数据驱动代理模型缺乏物理约束，小样本下泛化不足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594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B5C9A"/>
                </a:solidFill>
                <a:latin typeface="Microsoft YaHei"/>
              </a:defRPr>
            </a:pPr>
            <a:r>
              <a:t>研究目标：提出融合CBAM注意力机制与物理约束的</a:t>
            </a:r>
            <a:br/>
            <a:r>
              <a:t>PI-CNN-CBAM代理模型，实现芯片散热器快速预测+参数优化</a:t>
            </a:r>
          </a:p>
        </p:txBody>
      </p:sp>
      <p:pic>
        <p:nvPicPr>
          <p:cNvPr id="7" name="Picture 6" descr="fig5_2_3d_model_sc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475488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参数化设计与六维设计空间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B5C9A"/>
                </a:solidFill>
                <a:latin typeface="Microsoft YaHei"/>
              </a:defRPr>
            </a:pPr>
            <a:r>
              <a:t>NACA四位数翼型参数化 + 管阵列排布参数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28800"/>
          <a:ext cx="53035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645920"/>
                <a:gridCol w="1463040"/>
                <a:gridCol w="128016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参数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含义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范围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类别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最大弯度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[0.02, 0.06]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翼型截面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Twa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最大弯度位置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[0.2, 0.5]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翼型截面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Tb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最大厚度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[0.06, 0.15]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翼型截面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Ts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横向间距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[0.8, 1.5]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阵列排布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纵向间距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[0.6, 1.2]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阵列排布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Tad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错排偏移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[0, 0.6]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阵列排布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30352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基准结构：NACA0012对称翼型 + 3×8顺排等间距管阵列</a:t>
            </a:r>
            <a:br/>
            <a:r>
              <a:t>设计向量 X = [Ta, Twa, Tb, Ts, Tt, Tad]ᵀ ∈ ℝ⁶</a:t>
            </a:r>
          </a:p>
        </p:txBody>
      </p:sp>
      <p:pic>
        <p:nvPicPr>
          <p:cNvPr id="8" name="Picture 7" descr="fig2_2_tube_wak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029200" cy="37719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CFD数值模型与数据集构建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  COMSOL Multiphysics 6.3 二维流固共轭传热模型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  3×8翼型管阵列，映射四边形网格 (~10K单元)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  壁面5~8层边界层加密，y⁺ &lt; 1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  拉丁超立方采样(LHS)：6维空间 → 500组样本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  批量计算：COMSOL Java API，~40-60h完成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  数据集划分：375训练 / 75验证 / 50测试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多模态数据集：</a:t>
            </a:r>
            <a:br/>
            <a:r>
              <a:t>• 几何参数向量 (6维)</a:t>
            </a:r>
            <a:br/>
            <a:r>
              <a:t>• 流场云图 (速度/温度/压力, 800×600)</a:t>
            </a:r>
            <a:br/>
            <a:r>
              <a:t>• 温度场矩阵 (64×64) + 空气域掩码</a:t>
            </a:r>
            <a:br/>
            <a:r>
              <a:t>• 性能标签 (Nu, f)</a:t>
            </a:r>
          </a:p>
        </p:txBody>
      </p:sp>
      <p:pic>
        <p:nvPicPr>
          <p:cNvPr id="7" name="Picture 6" descr="fig3_3_mesh_coms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5303520" cy="3241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典型流场特征分析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5</a:t>
            </a:r>
          </a:p>
        </p:txBody>
      </p:sp>
      <p:pic>
        <p:nvPicPr>
          <p:cNvPr id="5" name="Picture 4" descr="fig3_7_velocity_f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474720" cy="195847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1148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A3C6E"/>
                </a:solidFill>
                <a:latin typeface="Microsoft YaHei"/>
              </a:defRPr>
            </a:pPr>
            <a:r>
              <a:t>速度场：管间加速 + 管后尾迹</a:t>
            </a:r>
          </a:p>
        </p:txBody>
      </p:sp>
      <p:pic>
        <p:nvPicPr>
          <p:cNvPr id="7" name="Picture 6" descr="fig3_8_temperature_f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371600"/>
            <a:ext cx="3474720" cy="195847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206240" y="41148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A3C6E"/>
                </a:solidFill>
                <a:latin typeface="Microsoft YaHei"/>
              </a:defRPr>
            </a:pPr>
            <a:r>
              <a:t>温度场：热源高温集中 + 沿程升温</a:t>
            </a:r>
          </a:p>
        </p:txBody>
      </p:sp>
      <p:pic>
        <p:nvPicPr>
          <p:cNvPr id="9" name="Picture 8" descr="fig3_9_pressure_f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79" y="1371600"/>
            <a:ext cx="3474720" cy="19584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955279" y="41148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A3C6E"/>
                </a:solidFill>
                <a:latin typeface="Microsoft YaHei"/>
              </a:defRPr>
            </a:pPr>
            <a:r>
              <a:t>压力场：前缘高压 + 后缘低压尾迹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029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0392B"/>
                </a:solidFill>
                <a:latin typeface="Microsoft YaHei"/>
              </a:defRPr>
            </a:pPr>
            <a:r>
              <a:t>参数敏感性：Ts对Nu影响最大(0.31) | Tt对f影响最大(0.35) | Tad对η影响最大(0.28)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技术路线总览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645920"/>
            <a:ext cx="1645920" cy="1097280"/>
          </a:xfrm>
          <a:prstGeom prst="rect">
            <a:avLst/>
          </a:prstGeom>
          <a:solidFill>
            <a:srgbClr val="2B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7373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CFD建模</a:t>
            </a:r>
            <a:br/>
            <a:r>
              <a:t>COMSOL 2D</a:t>
            </a:r>
          </a:p>
        </p:txBody>
      </p:sp>
      <p:sp>
        <p:nvSpPr>
          <p:cNvPr id="7" name="Rectangle 6"/>
          <p:cNvSpPr/>
          <p:nvPr/>
        </p:nvSpPr>
        <p:spPr>
          <a:xfrm>
            <a:off x="2103120" y="1645920"/>
            <a:ext cx="1645920" cy="1097280"/>
          </a:xfrm>
          <a:prstGeom prst="rect">
            <a:avLst/>
          </a:prstGeom>
          <a:solidFill>
            <a:srgbClr val="2B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0" y="17373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LHS采样</a:t>
            </a:r>
            <a:br/>
            <a:r>
              <a:t>500组样本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0" y="1645920"/>
            <a:ext cx="1645920" cy="1097280"/>
          </a:xfrm>
          <a:prstGeom prst="rect">
            <a:avLst/>
          </a:prstGeom>
          <a:solidFill>
            <a:srgbClr val="2B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0" y="17373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多模态</a:t>
            </a:r>
            <a:br/>
            <a:r>
              <a:t>数据集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0" y="1645920"/>
            <a:ext cx="1645920" cy="1097280"/>
          </a:xfrm>
          <a:prstGeom prst="rect">
            <a:avLst/>
          </a:prstGeom>
          <a:solidFill>
            <a:srgbClr val="2B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0" y="17373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五模型</a:t>
            </a:r>
            <a:br/>
            <a:r>
              <a:t>消融实验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0" y="1645920"/>
            <a:ext cx="1645920" cy="1097280"/>
          </a:xfrm>
          <a:prstGeom prst="rect">
            <a:avLst/>
          </a:prstGeom>
          <a:solidFill>
            <a:srgbClr val="2B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0" y="17373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PI-CNN</a:t>
            </a:r>
            <a:br/>
            <a:r>
              <a:t>-CBAM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18320" y="1645920"/>
            <a:ext cx="1645920" cy="1097280"/>
          </a:xfrm>
          <a:prstGeom prst="rect">
            <a:avLst/>
          </a:prstGeom>
          <a:solidFill>
            <a:srgbClr val="2B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0" y="173736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DE参数</a:t>
            </a:r>
            <a:br/>
            <a:r>
              <a:t>优化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19202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A3C6E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19202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A3C6E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19202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A3C6E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19202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A3C6E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19202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A3C6E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17520" y="3840480"/>
            <a:ext cx="1828800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17520" y="39319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2D COMSOL</a:t>
            </a:r>
            <a:br/>
            <a:r>
              <a:t>独立CFD复核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60720" y="3840480"/>
            <a:ext cx="1828800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720" y="39319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3D代表性</a:t>
            </a:r>
            <a:br/>
            <a:r>
              <a:t>工程验证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03920" y="3840480"/>
            <a:ext cx="1828800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0" y="39319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流场机理</a:t>
            </a:r>
            <a:br/>
            <a:r>
              <a:t>分析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303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五种模型：MLP基线(17K) → FeatureMLP(57K) → CNN+CBAM大参数(7.67M) → CNN+CBAM+GAP(2.4M) → PI-CNN-CBAM(3.7M)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五种预测模型架构设计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2103120" cy="6400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4173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MLP基线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1031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0392B"/>
                </a:solidFill>
                <a:latin typeface="Microsoft YaHei"/>
              </a:defRPr>
            </a:pPr>
            <a:r>
              <a:t>~17K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56032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6→64→128→64→2</a:t>
            </a:r>
            <a:br/>
            <a:r>
              <a:t>仅几何参数输入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6039" y="1371600"/>
            <a:ext cx="2103120" cy="6400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06039" y="14173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FeatureMLP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39" y="21031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0392B"/>
                </a:solidFill>
                <a:latin typeface="Microsoft YaHei"/>
              </a:defRPr>
            </a:pPr>
            <a:r>
              <a:t>~57K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39" y="256032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258维融合输入</a:t>
            </a:r>
            <a:br/>
            <a:r>
              <a:t>(6参数+252图像统计特征)</a:t>
            </a:r>
            <a:br/>
            <a:r>
              <a:t>sklearn MLPRegressor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59" y="1371600"/>
            <a:ext cx="2103120" cy="6400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59" y="14173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CNN+CBAM</a:t>
            </a:r>
            <a:br/>
            <a:r>
              <a:t>大参数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59" y="21031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0392B"/>
                </a:solidFill>
                <a:latin typeface="Microsoft YaHei"/>
              </a:defRPr>
            </a:pPr>
            <a:r>
              <a:t>~7.67M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59" y="256032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3并行CNN分支+CBAM</a:t>
            </a:r>
            <a:br/>
            <a:r>
              <a:t>Pool(4×4)固定窗口池化</a:t>
            </a:r>
            <a:br/>
            <a:r>
              <a:t>12416维融合特征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69479" y="1371600"/>
            <a:ext cx="2103120" cy="6400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79" y="14173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CNN+CBAM</a:t>
            </a:r>
            <a:br/>
            <a:r>
              <a:t>+GAP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79" y="21031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0392B"/>
                </a:solidFill>
                <a:latin typeface="Microsoft YaHei"/>
              </a:defRPr>
            </a:pPr>
            <a:r>
              <a:t>~2.4M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79" y="256032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同上架构</a:t>
            </a:r>
            <a:br/>
            <a:r>
              <a:t>Pool(1×1)全局平均池化</a:t>
            </a:r>
            <a:br/>
            <a:r>
              <a:t>896维融合特征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0" y="1371600"/>
            <a:ext cx="2103120" cy="6400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0" y="14173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PI-CNN</a:t>
            </a:r>
            <a:br/>
            <a:r>
              <a:t>-CBAM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21031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0392B"/>
                </a:solidFill>
                <a:latin typeface="Microsoft YaHei"/>
              </a:defRPr>
            </a:pPr>
            <a:r>
              <a:t>~3.7M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56032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GAP+FieldHead</a:t>
            </a:r>
            <a:br/>
            <a:r>
              <a:t>64×64温度场重建</a:t>
            </a:r>
            <a:br/>
            <a:r>
              <a:t>Laplacian物理约束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77440" y="14630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C6E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60" y="14630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C6E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79" y="14630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C6E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2600" y="14630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C6E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029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B5C9A"/>
                </a:solidFill>
                <a:latin typeface="Microsoft YaHei"/>
              </a:defRPr>
            </a:pPr>
            <a:r>
              <a:t>递进式消融：几何参数 → 图像统计特征 → CNN深度特征 → GAP反过拟合 → 物理信息约束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消融实验核心结果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2412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  <a:gridCol w="1645920"/>
                <a:gridCol w="164592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模型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参数量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Nu R²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Nu MAE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f R²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f MAE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MLP基线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~17K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0.9701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0.3301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0.9459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0.000843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FeatureMLP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~57K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0.9756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0.2841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0.9633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0.000549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CNN+CBAM大参数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~7.67M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0.9603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0.3461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0.9580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0.000729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CNN+CBAM+GAP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~2.4M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0.9871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0.2194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0.9801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0.000522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PI-CNN-CBAM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~3.7M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0.9911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0.1829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0.9772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0.000551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3891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  PI-CNN-CBAM取得最优Nu R²=0.9911，物理约束提升显著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  GAP反过拟合：参数量↓68.7%，Nu R²从0.9603→0.9871（+2.68）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  大参数模型(7.67M)过拟合严重，甚至不如MLP基线(17K)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  五折交叉验证：FeatureMLP Nu R²=0.9796±0.013，泛化稳定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GAP反过拟合策略 — 关键消融发现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029200" cy="5486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Pool(4×4) 固定窗口 — 7.67M参数 — 严重过拟合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  融合特征维度：12,416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  首层全连接参数：6.36M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  Nu R² = 0.9603（甚至 &lt; MLP基线!）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  训练损失持续下降，验证损失波动上升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  泛化间隙随训练不断扩大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371600"/>
            <a:ext cx="5029200" cy="5486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17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Pool(1×1) GAP — 2.4M参数 — 泛化良好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10312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  融合特征维度：896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  首层全连接参数：0.46M（↓92.8%）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  Nu R² = 0.9871（+2.68 vs 大参数）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  Nu MAE = 0.2194（↓36.6%）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  f R² = 0.9801（+2.21 vs 大参数）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4846320"/>
            <a:ext cx="9144000" cy="13716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5029200"/>
            <a:ext cx="8595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3C6E"/>
                </a:solidFill>
                <a:latin typeface="Microsoft YaHei"/>
              </a:defRPr>
            </a:pPr>
            <a:r>
              <a:t>核心启示：在数据受限的工程场景中，合理的架构设计（GAP结构性正则化）</a:t>
            </a:r>
            <a:br/>
            <a:r>
              <a:t>比单纯的模型规模扩张更为重要。GAP从架构层面消除过拟合的可能性来源。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PI-CNN-CBAM — 最优预测模型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  骨干：CNN+CBAM+GAP (三支CNN + CBAM注意力 + 参数MLP)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  FieldHead：896→256×4×4 → 4×ConvTranspose2d → 64×64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  物理约束：空气域5点FD Laplacian ≈ 0, λ=0.001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  联合损失：MSE(Nu) + MSE(f) + 0.1×MSE(field) + 0.001×L_Lap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7472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关键结果：</a:t>
            </a:r>
            <a:br/>
            <a:r>
              <a:t>• Nu R² = 0.9911（所有模型最优）</a:t>
            </a:r>
            <a:br/>
            <a:r>
              <a:t>• Nu MAE = 0.1829（较GAP ↓16.6%）</a:t>
            </a:r>
            <a:br/>
            <a:r>
              <a:t>• f R² = 0.9772（物理约束轻微资源竞争，可忽略）</a:t>
            </a:r>
            <a:br/>
            <a:r>
              <a:t>• 总参数量 ~3.7M</a:t>
            </a:r>
          </a:p>
        </p:txBody>
      </p:sp>
      <p:pic>
        <p:nvPicPr>
          <p:cNvPr id="7" name="Picture 6" descr="fig2_1_heat_transfer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029200" cy="37719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差分进化参数优化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B5C9A"/>
                </a:solidFill>
                <a:latin typeface="Microsoft YaHei"/>
              </a:defRPr>
            </a:pPr>
            <a:r>
              <a:t>目标函数：max η = Nu / f^(1/3)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  DE/rand/1/bin, NP=50, F=0.8, CR=0.9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  200代收敛，5次独立运行 η=1.0406±0.0007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  单次评估：PI-CNN-CBAM推理 ~毫秒级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  总评估~7340次，实际耗时3~5分钟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  (等效CFD耗时 &gt; 50天，效率提升 &gt; 10⁴×)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0" y="1371600"/>
          <a:ext cx="46634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188720"/>
                <a:gridCol w="1188720"/>
                <a:gridCol w="118872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参数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基准值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优化值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变化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0.040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0.035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-12.5%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Twa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0.40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0.40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0%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Tb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0.12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0.12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0%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Ts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1.10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1.10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0%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Tt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0.85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0.85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0%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Tad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0.50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0.50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0%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572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0392B"/>
                </a:solidFill>
                <a:latin typeface="Microsoft YaHei"/>
              </a:defRPr>
            </a:pPr>
            <a:r>
              <a:t>核心发现：Ta（翅片厚度比）是对η最敏感的参数</a:t>
            </a:r>
            <a:br/>
            <a:r>
              <a:t>翅片薄化 → 增大流通面积 + 增强尾流混合 → η提升~4%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COMSOL独立CFD复核验证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12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3327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011680"/>
                <a:gridCol w="2560320"/>
                <a:gridCol w="210312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性能指标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基准(CFD)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优化(PI-CNN预测)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优化(CFD验证)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变化(CFD)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Nu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18.7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19.6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19.8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+5.9%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f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0.035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0.038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0.037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+5.7%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1.000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1.04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1.04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+4.0%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R_th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R₀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0.943R₀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-5.7%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39319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验证结论：</a:t>
            </a:r>
            <a:br/>
            <a:r>
              <a:t>• η预测误差 &lt; 1%，代理模型高度可靠</a:t>
            </a:r>
            <a:br/>
            <a:r>
              <a:t>• 热阻降低5.7%，散热效果显著改善</a:t>
            </a:r>
            <a:br/>
            <a:r>
              <a:t>• 流场分析：翅片薄化增强尾流混合，</a:t>
            </a:r>
            <a:br/>
            <a:r>
              <a:t>  热边界层减薄3~6%</a:t>
            </a:r>
          </a:p>
        </p:txBody>
      </p:sp>
      <p:pic>
        <p:nvPicPr>
          <p:cNvPr id="7" name="Picture 6" descr="fig4_9_temperatur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931920"/>
            <a:ext cx="5029200" cy="945489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三维代表性工程模型验证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13</a:t>
            </a:r>
          </a:p>
        </p:txBody>
      </p:sp>
      <p:pic>
        <p:nvPicPr>
          <p:cNvPr id="5" name="Picture 4" descr="fig5_2_3d_model_sc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4572000" cy="342900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0" y="1371600"/>
          <a:ext cx="5486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指标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基准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优化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变化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芯片Tmax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318.2K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316.7K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-1.5K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热阻R_th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R₀,₃D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0.984R₀,₃D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-1.6%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压降Δp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Δp₀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0.83Δp₀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-17.0%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η_3D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η₀,₃D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1.081η₀,₃D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Microsoft YaHei"/>
                        </a:defRPr>
                      </a:pPr>
                      <a:r>
                        <a:t>+8.1%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0" y="41148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三维验证结论：</a:t>
            </a:r>
            <a:br/>
            <a:r>
              <a:t>• 芯片温度降低1.5K（精密器件显著受益）</a:t>
            </a:r>
            <a:br/>
            <a:r>
              <a:t>• 压降降低17%（三维端部效应增强减阻）</a:t>
            </a:r>
            <a:br/>
            <a:r>
              <a:t>• η_3D提升8.1%（定性支持优化方案可行性）</a:t>
            </a:r>
            <a:br/>
            <a:r>
              <a:t>• 注：三维为代表性构型，非精确2D→3D复现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主要结论与创新点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30352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  主要结论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  500组CFD样本 + 多模态数据集构建完成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  五模型消融实验：MLP→PI-CNN-CBAM递进验证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  GAP反过拟合：参数量↓68.7%，Nu R²↑2.68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  PI-CNN-CBAM最优：Nu R²=0.9911, f R²=0.9772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  DE优化η提升~4%，CFD复核误差&lt;1%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  三维验证：芯片温度↓1.5K，压降↓17%，η₃D↑8.1%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280160"/>
            <a:ext cx="5303520" cy="457200"/>
          </a:xfrm>
          <a:prstGeom prst="rect">
            <a:avLst/>
          </a:prstGeom>
          <a:solidFill>
            <a:srgbClr val="2B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29844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  创新点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9202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  提出PI-CNN-CBAM模型：融合CBAM注意力</a:t>
            </a:r>
            <a:br/>
            <a:r>
              <a:t>  +FieldHead多任务学习+Laplacian物理约束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  验证GAP反过拟合策略：小样本工程数据集</a:t>
            </a:r>
            <a:br/>
            <a:r>
              <a:t>  上的架构设计优于盲目扩大模型规模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  构建代理驱动DE优化框架：毫秒级评估替代</a:t>
            </a:r>
            <a:br/>
            <a:r>
              <a:t>  CFD仿真，效率提升&gt;10⁴倍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t>感谢各位老师的指导与建议！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BCCDD"/>
                </a:solidFill>
                <a:latin typeface="Microsoft YaHei"/>
              </a:defRPr>
            </a:pPr>
            <a:r>
              <a:t>恳请各位专家批评指正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